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stage: Orqestra is infrastructure, not a tool. Emphasize 'between' — that's the core insight no one has acted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AI systems develop conflicting beliefs with no reconciliation layer. Existing observability is single-system — it can't see the gap between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not building better observability — we're building the missing layer. The asset is the canonical claim store, not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SCCG is the immutable record; OBG is what you can query. The 5-level detection funnel is what makes it affordable — cheap heuristics first, LLM apex judge only for the hard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modes ordered by friction. Key point: all three produce the same SCCG telemetry — depth of integration doesn't change what you get, only how you get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inflection point. Canon makes Orqestra load-bearing: agents can't fabricate if they query ground truth first. Sub-50ms means it's safe on the synchronous request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Contradictions don't stay local — they propagate through the claim graph. The dollar amplification makes the problem concrete. $1,200 root becomes $7,800 across 13 downstream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SCCG walk traces every derivation back to its source. LCA detection finds the exact upstream claim where two agents began to diverge. Existing tools flag the contradiction; Orqestra explains its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7.1 production instrumentation — these are real numbers, not projections. Fast enough for synchronous request paths; cheap enough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just an architecture claim — tenant_id on every log line, separate Celery contexts, cross-org leakage is structurally impossible by query construction. Verified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progression from optional to essential. Monitor is today. Canon is when we become load-bearing. The OS stage is the long game — an org's full knowledge operating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defensibility argument. Components can be cloned in months. A versioned knowledge asset grown from real production traffic cannot. Network effects compound — the longer it runs, the stickier it 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commitment, high signal for both sides. Four weeks, one engagement, no payment. We instrument; NeuralCraft evaluates; both sides learn. Joint case study if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847975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NEURALCRAFT · 2025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3533775"/>
            <a:ext cx="17811750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200" b="1" spc="-375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Orqestra</a:t>
            </a:r>
            <a:endParaRPr lang="en-US" sz="10200" dirty="0"/>
          </a:p>
        </p:txBody>
      </p:sp>
      <p:sp>
        <p:nvSpPr>
          <p:cNvPr id="4" name="Shape 2"/>
          <p:cNvSpPr/>
          <p:nvPr/>
        </p:nvSpPr>
        <p:spPr>
          <a:xfrm>
            <a:off x="1047750" y="5076825"/>
            <a:ext cx="685800" cy="19050"/>
          </a:xfrm>
          <a:prstGeom prst="rect">
            <a:avLst/>
          </a:prstGeom>
          <a:solidFill>
            <a:srgbClr val="8DB2F5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5514975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900" spc="-75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Estate Coherence Infrastructure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047750" y="6524625"/>
            <a:ext cx="961453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"Catch the failures that live BETWEEN your AI systems."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290763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2747963"/>
            <a:ext cx="1667827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systems develop conflicting beliefs.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047750" y="4729163"/>
            <a:ext cx="47625" cy="342900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362075" y="4652963"/>
            <a:ext cx="1282265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AI system independently forms beliefs about organizational facts — prices, headcount, budgets — with no reconciliation mechanism.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047750" y="5948363"/>
            <a:ext cx="47625" cy="34290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362075" y="5872163"/>
            <a:ext cx="1282265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tool detects failures that live </a:t>
            </a:r>
            <a:pPr algn="l" indent="0" marL="0">
              <a:lnSpc>
                <a:spcPct val="145000"/>
              </a:lnSpc>
              <a:buNone/>
            </a:pPr>
            <a:r>
              <a:rPr lang="en-US" sz="2700" b="1" dirty="0">
                <a:solidFill>
                  <a:srgbClr val="8DB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</a:t>
            </a:r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rather than within them.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47750" y="7167563"/>
            <a:ext cx="47625" cy="342900"/>
          </a:xfrm>
          <a:prstGeom prst="roundRect">
            <a:avLst>
              <a:gd name="adj" fmla="val 40000"/>
            </a:avLst>
          </a:prstGeom>
          <a:solidFill>
            <a:srgbClr val="383838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075" y="7091363"/>
            <a:ext cx="1111924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observability sees one system at a time.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362075" y="7720013"/>
            <a:ext cx="1185118" cy="352425"/>
          </a:xfrm>
          <a:prstGeom prst="roundRect">
            <a:avLst>
              <a:gd name="adj" fmla="val 10811"/>
            </a:avLst>
          </a:prstGeom>
          <a:solidFill>
            <a:srgbClr val="272727"/>
          </a:solidFill>
          <a:ln/>
        </p:spPr>
      </p:sp>
      <p:sp>
        <p:nvSpPr>
          <p:cNvPr id="11" name="Text 9"/>
          <p:cNvSpPr/>
          <p:nvPr/>
        </p:nvSpPr>
        <p:spPr>
          <a:xfrm>
            <a:off x="1514475" y="7777163"/>
            <a:ext cx="95651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Datadog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2661493" y="7720013"/>
            <a:ext cx="1436638" cy="352425"/>
          </a:xfrm>
          <a:prstGeom prst="roundRect">
            <a:avLst>
              <a:gd name="adj" fmla="val 10811"/>
            </a:avLst>
          </a:prstGeom>
          <a:solidFill>
            <a:srgbClr val="272727"/>
          </a:solidFill>
          <a:ln/>
        </p:spPr>
      </p:sp>
      <p:sp>
        <p:nvSpPr>
          <p:cNvPr id="13" name="Text 11"/>
          <p:cNvSpPr/>
          <p:nvPr/>
        </p:nvSpPr>
        <p:spPr>
          <a:xfrm>
            <a:off x="2813893" y="7777163"/>
            <a:ext cx="12080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212431" y="7720013"/>
            <a:ext cx="1310878" cy="352425"/>
          </a:xfrm>
          <a:prstGeom prst="roundRect">
            <a:avLst>
              <a:gd name="adj" fmla="val 10811"/>
            </a:avLst>
          </a:prstGeom>
          <a:solidFill>
            <a:srgbClr val="272727"/>
          </a:solidFill>
          <a:ln/>
        </p:spPr>
      </p:sp>
      <p:sp>
        <p:nvSpPr>
          <p:cNvPr id="15" name="Text 13"/>
          <p:cNvSpPr/>
          <p:nvPr/>
        </p:nvSpPr>
        <p:spPr>
          <a:xfrm>
            <a:off x="4364831" y="7777163"/>
            <a:ext cx="108227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Helicone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637609" y="7762875"/>
            <a:ext cx="64161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each sees one agent, never the conflict between them.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45736" y="2533650"/>
            <a:ext cx="79652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THESIS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746471" y="3143250"/>
            <a:ext cx="12795058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65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Cross-system coherence is a separate problem requiring separate infrastructure.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8801100" y="4991100"/>
            <a:ext cx="685800" cy="19050"/>
          </a:xfrm>
          <a:prstGeom prst="rect">
            <a:avLst/>
          </a:prstGeom>
          <a:solidFill>
            <a:srgbClr val="8DB2F5"/>
          </a:solidFill>
          <a:ln/>
        </p:spPr>
      </p:sp>
      <p:sp>
        <p:nvSpPr>
          <p:cNvPr id="5" name="Text 3"/>
          <p:cNvSpPr/>
          <p:nvPr/>
        </p:nvSpPr>
        <p:spPr>
          <a:xfrm>
            <a:off x="4203063" y="5505450"/>
            <a:ext cx="988172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8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asset isn't a model — it's a versioned, queryable record of what your organization actually believes.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6286054" y="7029450"/>
            <a:ext cx="5715893" cy="800100"/>
          </a:xfrm>
          <a:prstGeom prst="roundRect">
            <a:avLst>
              <a:gd name="adj" fmla="val 4762"/>
            </a:avLst>
          </a:prstGeom>
          <a:solidFill>
            <a:srgbClr val="8DB2F5">
              <a:alpha val="7000"/>
            </a:srgbClr>
          </a:solidFill>
          <a:ln w="9525">
            <a:solidFill>
              <a:srgbClr val="8DB2F5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8940" y="7248525"/>
            <a:ext cx="50301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Canonical Claim Store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038350"/>
            <a:ext cx="77533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2419350"/>
            <a:ext cx="7259955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structures. Five-level funnel.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962400"/>
            <a:ext cx="7048500" cy="1790700"/>
          </a:xfrm>
          <a:prstGeom prst="roundRect">
            <a:avLst>
              <a:gd name="adj" fmla="val 2128"/>
            </a:avLst>
          </a:prstGeom>
          <a:solidFill>
            <a:srgbClr val="272727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962400"/>
            <a:ext cx="28575" cy="1790700"/>
          </a:xfrm>
          <a:prstGeom prst="rect">
            <a:avLst/>
          </a:prstGeom>
          <a:solidFill>
            <a:srgbClr val="8DB2F5"/>
          </a:solidFill>
          <a:ln/>
        </p:spPr>
      </p:sp>
      <p:sp>
        <p:nvSpPr>
          <p:cNvPr id="6" name="Text 4"/>
          <p:cNvSpPr/>
          <p:nvPr/>
        </p:nvSpPr>
        <p:spPr>
          <a:xfrm>
            <a:off x="1362075" y="4210050"/>
            <a:ext cx="7093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SCCG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62075" y="4524375"/>
            <a:ext cx="70932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25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Causal Claim Graph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362075" y="4914900"/>
            <a:ext cx="66418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DAG with vector clocks. Every claim, every derivation, immutable.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47750" y="5924550"/>
            <a:ext cx="7048500" cy="1790700"/>
          </a:xfrm>
          <a:prstGeom prst="roundRect">
            <a:avLst>
              <a:gd name="adj" fmla="val 2128"/>
            </a:avLst>
          </a:prstGeom>
          <a:solidFill>
            <a:srgbClr val="272727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5924550"/>
            <a:ext cx="28575" cy="17907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1" name="Text 9"/>
          <p:cNvSpPr/>
          <p:nvPr/>
        </p:nvSpPr>
        <p:spPr>
          <a:xfrm>
            <a:off x="1362075" y="6172200"/>
            <a:ext cx="70932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62075" y="6486525"/>
            <a:ext cx="709326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25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Belief Graph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362075" y="6877050"/>
            <a:ext cx="664187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Materialized semantic state — what your org currently believes, queryable in real time.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47750" y="8058150"/>
            <a:ext cx="2586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5-level detection funnel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51337" y="8072438"/>
            <a:ext cx="345823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~90% LLM cost reduction</a:t>
            </a:r>
            <a:endParaRPr lang="en-US" sz="16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44150" y="2752725"/>
            <a:ext cx="533400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333625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2695575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5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modes. One SCCG.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47750" y="3705225"/>
            <a:ext cx="5219700" cy="3800475"/>
          </a:xfrm>
          <a:prstGeom prst="roundRect">
            <a:avLst>
              <a:gd name="adj" fmla="val 1003"/>
            </a:avLst>
          </a:prstGeom>
          <a:solidFill>
            <a:srgbClr val="27272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048125"/>
            <a:ext cx="502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371600" y="4733925"/>
            <a:ext cx="381000" cy="19050"/>
          </a:xfrm>
          <a:prstGeom prst="rect">
            <a:avLst/>
          </a:prstGeom>
          <a:solidFill>
            <a:srgbClr val="8DB2F5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943475"/>
            <a:ext cx="5029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Wrapper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5495925"/>
            <a:ext cx="470916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once, get full telemetry. Wrap your existing agent calls — lowest friction path.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6715125"/>
            <a:ext cx="4572000" cy="447675"/>
          </a:xfrm>
          <a:prstGeom prst="roundRect">
            <a:avLst>
              <a:gd name="adj" fmla="val 8511"/>
            </a:avLst>
          </a:prstGeom>
          <a:solidFill>
            <a:srgbClr val="8DB2F5">
              <a:alpha val="7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43050" y="6829425"/>
            <a:ext cx="43662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orqestra.wrap(agent)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4150" y="3705225"/>
            <a:ext cx="5219700" cy="3800475"/>
          </a:xfrm>
          <a:prstGeom prst="roundRect">
            <a:avLst>
              <a:gd name="adj" fmla="val 1003"/>
            </a:avLst>
          </a:prstGeom>
          <a:solidFill>
            <a:srgbClr val="27272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4048125"/>
            <a:ext cx="502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6858000" y="4733925"/>
            <a:ext cx="381000" cy="19050"/>
          </a:xfrm>
          <a:prstGeom prst="rect">
            <a:avLst/>
          </a:prstGeom>
          <a:solidFill>
            <a:srgbClr val="A0A0A0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4943475"/>
            <a:ext cx="5029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Hook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0" y="5495925"/>
            <a:ext cx="470916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HMAC-signed pushes from your system on every claim write. Event-driven, real-time.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0" y="6715125"/>
            <a:ext cx="4572000" cy="447675"/>
          </a:xfrm>
          <a:prstGeom prst="roundRect">
            <a:avLst>
              <a:gd name="adj" fmla="val 8511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29450" y="6829425"/>
            <a:ext cx="43662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/hooks/claim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020550" y="3705225"/>
            <a:ext cx="5219700" cy="3800475"/>
          </a:xfrm>
          <a:prstGeom prst="roundRect">
            <a:avLst>
              <a:gd name="adj" fmla="val 1003"/>
            </a:avLst>
          </a:prstGeom>
          <a:solidFill>
            <a:srgbClr val="272727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0" y="4048125"/>
            <a:ext cx="50292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900" dirty="0"/>
          </a:p>
        </p:txBody>
      </p:sp>
      <p:sp>
        <p:nvSpPr>
          <p:cNvPr id="20" name="Shape 18"/>
          <p:cNvSpPr/>
          <p:nvPr/>
        </p:nvSpPr>
        <p:spPr>
          <a:xfrm>
            <a:off x="12344400" y="4733925"/>
            <a:ext cx="381000" cy="19050"/>
          </a:xfrm>
          <a:prstGeom prst="rect">
            <a:avLst/>
          </a:prstGeom>
          <a:solidFill>
            <a:srgbClr val="A0A0A0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0" y="4943475"/>
            <a:ext cx="5029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Ingestion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344400" y="5495925"/>
            <a:ext cx="470916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Read-only. Ingest existing logs — no write access required, zero code changes.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344400" y="6715125"/>
            <a:ext cx="4572000" cy="447675"/>
          </a:xfrm>
          <a:prstGeom prst="roundRect">
            <a:avLst>
              <a:gd name="adj" fmla="val 8511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515850" y="6829425"/>
            <a:ext cx="43662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ingest(log_stream)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38125" y="7791450"/>
            <a:ext cx="178117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three feed the same SCCG → </a:t>
            </a:r>
            <a:pPr algn="ctr" indent="0" marL="0">
              <a:buNone/>
            </a:pPr>
            <a:r>
              <a:rPr lang="en-US" sz="165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identical coherence monitoring regardless of integration depth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257425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2657475"/>
            <a:ext cx="1667827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endpoint anchors every agent to organizational ground truth.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238625"/>
            <a:ext cx="16192500" cy="2762250"/>
          </a:xfrm>
          <a:prstGeom prst="roundRect">
            <a:avLst>
              <a:gd name="adj" fmla="val 1379"/>
            </a:avLst>
          </a:prstGeom>
          <a:solidFill>
            <a:srgbClr val="0F0F0F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8275" y="5172075"/>
            <a:ext cx="61493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38275" y="5457825"/>
            <a:ext cx="61493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75" kern="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/canon/resolve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485757" y="4552950"/>
            <a:ext cx="9525" cy="213360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8" name="Text 6"/>
          <p:cNvSpPr/>
          <p:nvPr/>
        </p:nvSpPr>
        <p:spPr>
          <a:xfrm>
            <a:off x="7952482" y="4552950"/>
            <a:ext cx="34708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2482" y="4857750"/>
            <a:ext cx="3249964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entity: </a:t>
            </a:r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"q4_burn" </a:t>
            </a:r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canonical: </a:t>
            </a:r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"$1,200,000" </a:t>
            </a:r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confidence: </a:t>
            </a:r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 </a:t>
            </a:r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conflicts: </a:t>
            </a:r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74295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8DB2F5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7381875"/>
            <a:ext cx="515386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query Canon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responding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anchored to consensus, not fabrication.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546800" y="74295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8DB2F5"/>
          </a:solidFill>
          <a:ln/>
        </p:spPr>
      </p:sp>
      <p:sp>
        <p:nvSpPr>
          <p:cNvPr id="13" name="Text 11"/>
          <p:cNvSpPr/>
          <p:nvPr/>
        </p:nvSpPr>
        <p:spPr>
          <a:xfrm>
            <a:off x="6737300" y="7381875"/>
            <a:ext cx="5153863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50ms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synchronous in request path, no UX penalty.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45851" y="742950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8DB2F5"/>
          </a:solidFill>
          <a:ln/>
        </p:spPr>
      </p:sp>
      <p:sp>
        <p:nvSpPr>
          <p:cNvPr id="15" name="Text 13"/>
          <p:cNvSpPr/>
          <p:nvPr/>
        </p:nvSpPr>
        <p:spPr>
          <a:xfrm>
            <a:off x="12236351" y="7381875"/>
            <a:ext cx="515386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inflection point —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load-bearing infrastructure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optional tooling.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828925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BLAST RADIUS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3248025"/>
            <a:ext cx="1667827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contradiction propagates dollar exposure downstream.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47750" y="4810125"/>
            <a:ext cx="38229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CONTRADICTION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5143500"/>
            <a:ext cx="382297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spc="-300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$1,200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5132784" y="4819650"/>
            <a:ext cx="201200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6.5×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304234" y="5676900"/>
            <a:ext cx="16348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amplification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90083" y="6086475"/>
            <a:ext cx="1600200" cy="19050"/>
          </a:xfrm>
          <a:prstGeom prst="rect">
            <a:avLst/>
          </a:prstGeom>
          <a:solidFill>
            <a:srgbClr val="A0A0A0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90283" y="6029325"/>
            <a:ext cx="114300" cy="133350"/>
          </a:xfrm>
          <a:prstGeom prst="rect">
            <a:avLst/>
          </a:prstGeom>
          <a:solidFill>
            <a:srgbClr val="A0A0A0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571482" y="4810125"/>
            <a:ext cx="38229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90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EXPOSURE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71482" y="5143500"/>
            <a:ext cx="382297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0" b="1" spc="-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$7,800</a:t>
            </a:r>
            <a:endParaRPr lang="en-US" sz="8100" dirty="0"/>
          </a:p>
        </p:txBody>
      </p:sp>
      <p:sp>
        <p:nvSpPr>
          <p:cNvPr id="12" name="Shape 10"/>
          <p:cNvSpPr/>
          <p:nvPr/>
        </p:nvSpPr>
        <p:spPr>
          <a:xfrm>
            <a:off x="1047750" y="6591300"/>
            <a:ext cx="4166741" cy="942975"/>
          </a:xfrm>
          <a:prstGeom prst="roundRect">
            <a:avLst>
              <a:gd name="adj" fmla="val 4040"/>
            </a:avLst>
          </a:prstGeom>
          <a:solidFill>
            <a:srgbClr val="272727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6781800"/>
            <a:ext cx="67076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2080468" y="6981825"/>
            <a:ext cx="31121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claims affected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19291" y="6691313"/>
            <a:ext cx="706374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real demo data. Orqestra quantifies propagation — dollar exposure is a number, not a hypothesis.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395538"/>
            <a:ext cx="7543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CAUSAL LINEAGE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2776538"/>
            <a:ext cx="706374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divergence happened — not just that it did.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4910138"/>
            <a:ext cx="38100" cy="266700"/>
          </a:xfrm>
          <a:prstGeom prst="roundRect">
            <a:avLst>
              <a:gd name="adj" fmla="val 50000"/>
            </a:avLst>
          </a:prstGeom>
          <a:solidFill>
            <a:srgbClr val="8DB2F5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4862513"/>
            <a:ext cx="682828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SCCG walk for any contradiction — every derivation step traced back to its source.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47750" y="5881688"/>
            <a:ext cx="38100" cy="266700"/>
          </a:xfrm>
          <a:prstGeom prst="roundRect">
            <a:avLst>
              <a:gd name="adj" fmla="val 50000"/>
            </a:avLst>
          </a:prstGeom>
          <a:solidFill>
            <a:srgbClr val="8DB2F5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5834063"/>
            <a:ext cx="6828282" cy="1200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LCA detection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two agents derive conflicting claims from the same upstream source. We find the Lowest Common Ancestor.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47750" y="7253288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7205663"/>
            <a:ext cx="682828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flag the contradiction. Orqestra explains its origin.</a:t>
            </a:r>
            <a:endParaRPr lang="en-US" sz="2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800350"/>
            <a:ext cx="4953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952750"/>
            <a:ext cx="70074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3295650"/>
            <a:ext cx="700748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Measured. Not projected.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585502" y="2847975"/>
            <a:ext cx="4654748" cy="400050"/>
          </a:xfrm>
          <a:prstGeom prst="roundRect">
            <a:avLst>
              <a:gd name="adj" fmla="val 9524"/>
            </a:avLst>
          </a:prstGeom>
          <a:solidFill>
            <a:srgbClr val="272727"/>
          </a:solidFill>
          <a:ln/>
        </p:spPr>
      </p:sp>
      <p:sp>
        <p:nvSpPr>
          <p:cNvPr id="5" name="Text 3"/>
          <p:cNvSpPr/>
          <p:nvPr/>
        </p:nvSpPr>
        <p:spPr>
          <a:xfrm>
            <a:off x="12795052" y="2943225"/>
            <a:ext cx="43752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 7.1 · production instrumentation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047750" y="4248150"/>
            <a:ext cx="5257800" cy="2628900"/>
          </a:xfrm>
          <a:prstGeom prst="roundRect">
            <a:avLst>
              <a:gd name="adj" fmla="val 1449"/>
            </a:avLst>
          </a:prstGeom>
          <a:solidFill>
            <a:srgbClr val="0F0F0F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248150"/>
            <a:ext cx="5257800" cy="19050"/>
          </a:xfrm>
          <a:prstGeom prst="rect">
            <a:avLst/>
          </a:prstGeom>
          <a:solidFill>
            <a:srgbClr val="8DB2F5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591050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 WRITE LATENCY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371600" y="4953000"/>
            <a:ext cx="208747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225" kern="0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8.66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3345507" y="5286375"/>
            <a:ext cx="51062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371600" y="5943600"/>
            <a:ext cx="50711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write endpoint. 95th percentile.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515100" y="4248150"/>
            <a:ext cx="5257800" cy="2628900"/>
          </a:xfrm>
          <a:prstGeom prst="roundRect">
            <a:avLst>
              <a:gd name="adj" fmla="val 1449"/>
            </a:avLst>
          </a:prstGeom>
          <a:solidFill>
            <a:srgbClr val="0F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6515100" y="4248150"/>
            <a:ext cx="5257800" cy="1905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14" name="Text 12"/>
          <p:cNvSpPr/>
          <p:nvPr/>
        </p:nvSpPr>
        <p:spPr>
          <a:xfrm>
            <a:off x="6838950" y="4591050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P95 READ LATENCY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6838950" y="4953000"/>
            <a:ext cx="1565731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225" kern="0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≤10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8338542" y="5286375"/>
            <a:ext cx="51062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6838950" y="5943600"/>
            <a:ext cx="47484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Blast-radius and lineage queries. Synchronous-safe.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1982450" y="4248150"/>
            <a:ext cx="5257800" cy="2628900"/>
          </a:xfrm>
          <a:prstGeom prst="roundRect">
            <a:avLst>
              <a:gd name="adj" fmla="val 1449"/>
            </a:avLst>
          </a:prstGeom>
          <a:solidFill>
            <a:srgbClr val="0F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982450" y="4248150"/>
            <a:ext cx="5257800" cy="1905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20" name="Text 18"/>
          <p:cNvSpPr/>
          <p:nvPr/>
        </p:nvSpPr>
        <p:spPr>
          <a:xfrm>
            <a:off x="12306300" y="4591050"/>
            <a:ext cx="50711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PER 1K SAMPLES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2306300" y="4991100"/>
            <a:ext cx="507111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spc="-225" kern="0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$0.19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2306300" y="5981700"/>
            <a:ext cx="474840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gpt-5.4-mini rates. 5-level funnel cuts LLM spend ~90%.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38125" y="7258050"/>
            <a:ext cx="178117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Sub-</a:t>
            </a:r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50ms </a:t>
            </a:r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request-path latency → </a:t>
            </a:r>
            <a:pPr algn="ctr" indent="0" marL="0">
              <a:buNone/>
            </a:pPr>
            <a:r>
              <a:rPr lang="en-US" sz="180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 call Canon synchronously without UX penalty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533650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MULTI-TENANT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2895600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 verified end-to-end.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3886200"/>
            <a:ext cx="83138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047750" y="4343400"/>
            <a:ext cx="7558088" cy="600075"/>
          </a:xfrm>
          <a:prstGeom prst="roundRect">
            <a:avLst>
              <a:gd name="adj" fmla="val 6349"/>
            </a:avLst>
          </a:prstGeom>
          <a:solidFill>
            <a:srgbClr val="272727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4610100"/>
            <a:ext cx="66675" cy="66675"/>
          </a:xfrm>
          <a:prstGeom prst="ellipse">
            <a:avLst/>
          </a:prstGeom>
          <a:solidFill>
            <a:srgbClr val="8DB2F5"/>
          </a:solidFill>
          <a:ln/>
        </p:spPr>
      </p:sp>
      <p:sp>
        <p:nvSpPr>
          <p:cNvPr id="7" name="Text 5"/>
          <p:cNvSpPr/>
          <p:nvPr/>
        </p:nvSpPr>
        <p:spPr>
          <a:xfrm>
            <a:off x="1495425" y="4514850"/>
            <a:ext cx="401428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tenant_id </a:t>
            </a:r>
            <a:pPr algn="l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 every log line and trace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7750" y="5076825"/>
            <a:ext cx="7558088" cy="600075"/>
          </a:xfrm>
          <a:prstGeom prst="roundRect">
            <a:avLst>
              <a:gd name="adj" fmla="val 6349"/>
            </a:avLst>
          </a:prstGeom>
          <a:solidFill>
            <a:srgbClr val="272727"/>
          </a:solidFill>
          <a:ln/>
        </p:spPr>
      </p:sp>
      <p:sp>
        <p:nvSpPr>
          <p:cNvPr id="9" name="Shape 7"/>
          <p:cNvSpPr/>
          <p:nvPr/>
        </p:nvSpPr>
        <p:spPr>
          <a:xfrm>
            <a:off x="1257300" y="5343525"/>
            <a:ext cx="66675" cy="66675"/>
          </a:xfrm>
          <a:prstGeom prst="ellipse">
            <a:avLst/>
          </a:prstGeom>
          <a:solidFill>
            <a:srgbClr val="8DB2F5"/>
          </a:solidFill>
          <a:ln/>
        </p:spPr>
      </p:sp>
      <p:sp>
        <p:nvSpPr>
          <p:cNvPr id="10" name="Text 8"/>
          <p:cNvSpPr/>
          <p:nvPr/>
        </p:nvSpPr>
        <p:spPr>
          <a:xfrm>
            <a:off x="1495425" y="5248275"/>
            <a:ext cx="39567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org_slug </a:t>
            </a:r>
            <a:pPr algn="l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scoped per request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47750" y="5810250"/>
            <a:ext cx="7558088" cy="600075"/>
          </a:xfrm>
          <a:prstGeom prst="roundRect">
            <a:avLst>
              <a:gd name="adj" fmla="val 6349"/>
            </a:avLst>
          </a:prstGeom>
          <a:solidFill>
            <a:srgbClr val="2727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257300" y="6076950"/>
            <a:ext cx="66675" cy="66675"/>
          </a:xfrm>
          <a:prstGeom prst="ellipse">
            <a:avLst/>
          </a:prstGeom>
          <a:solidFill>
            <a:srgbClr val="8DB2F5"/>
          </a:solidFill>
          <a:ln/>
        </p:spPr>
      </p:sp>
      <p:sp>
        <p:nvSpPr>
          <p:cNvPr id="13" name="Text 11"/>
          <p:cNvSpPr/>
          <p:nvPr/>
        </p:nvSpPr>
        <p:spPr>
          <a:xfrm>
            <a:off x="1495425" y="5981700"/>
            <a:ext cx="39495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Celery </a:t>
            </a:r>
            <a:pPr algn="l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separate contexts per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47750" y="6543675"/>
            <a:ext cx="7558088" cy="590550"/>
          </a:xfrm>
          <a:prstGeom prst="roundRect">
            <a:avLst>
              <a:gd name="adj" fmla="val 6452"/>
            </a:avLst>
          </a:prstGeom>
          <a:solidFill>
            <a:srgbClr val="272727"/>
          </a:solidFill>
          <a:ln/>
        </p:spPr>
      </p:sp>
      <p:sp>
        <p:nvSpPr>
          <p:cNvPr id="15" name="Shape 13"/>
          <p:cNvSpPr/>
          <p:nvPr/>
        </p:nvSpPr>
        <p:spPr>
          <a:xfrm>
            <a:off x="1257300" y="6805613"/>
            <a:ext cx="66675" cy="66675"/>
          </a:xfrm>
          <a:prstGeom prst="ellipse">
            <a:avLst/>
          </a:prstGeom>
          <a:solidFill>
            <a:srgbClr val="8DB2F5"/>
          </a:solidFill>
          <a:ln/>
        </p:spPr>
      </p:sp>
      <p:sp>
        <p:nvSpPr>
          <p:cNvPr id="16" name="Text 14"/>
          <p:cNvSpPr/>
          <p:nvPr/>
        </p:nvSpPr>
        <p:spPr>
          <a:xfrm>
            <a:off x="1495425" y="6715125"/>
            <a:ext cx="646969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Cross-org leakage </a:t>
            </a:r>
            <a:pPr algn="l" indent="0" marL="0">
              <a:buNone/>
            </a:pPr>
            <a:r>
              <a:rPr lang="en-US" sz="16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structurally impossible </a:t>
            </a:r>
            <a:pPr algn="l" indent="0" marL="0"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query construction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139238" y="3886200"/>
            <a:ext cx="9525" cy="394335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9682163" y="3886200"/>
            <a:ext cx="83138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99" kern="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PRESETS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682163" y="4324350"/>
            <a:ext cx="7558088" cy="609600"/>
          </a:xfrm>
          <a:prstGeom prst="roundRect">
            <a:avLst>
              <a:gd name="adj" fmla="val 6250"/>
            </a:avLst>
          </a:prstGeom>
          <a:solidFill>
            <a:srgbClr val="272727"/>
          </a:solidFill>
          <a:ln/>
        </p:spPr>
      </p:sp>
      <p:sp>
        <p:nvSpPr>
          <p:cNvPr id="20" name="Text 18"/>
          <p:cNvSpPr/>
          <p:nvPr/>
        </p:nvSpPr>
        <p:spPr>
          <a:xfrm>
            <a:off x="9891713" y="4495800"/>
            <a:ext cx="11307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378982" y="4524375"/>
            <a:ext cx="7279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tier-1</a:t>
            </a:r>
            <a:endParaRPr lang="en-US" sz="1425" dirty="0"/>
          </a:p>
        </p:txBody>
      </p:sp>
      <p:sp>
        <p:nvSpPr>
          <p:cNvPr id="22" name="Shape 20"/>
          <p:cNvSpPr/>
          <p:nvPr/>
        </p:nvSpPr>
        <p:spPr>
          <a:xfrm>
            <a:off x="9682163" y="5048250"/>
            <a:ext cx="7558088" cy="609600"/>
          </a:xfrm>
          <a:prstGeom prst="roundRect">
            <a:avLst>
              <a:gd name="adj" fmla="val 6250"/>
            </a:avLst>
          </a:prstGeom>
          <a:solidFill>
            <a:srgbClr val="272727"/>
          </a:solidFill>
          <a:ln/>
        </p:spPr>
      </p:sp>
      <p:sp>
        <p:nvSpPr>
          <p:cNvPr id="23" name="Shape 21"/>
          <p:cNvSpPr/>
          <p:nvPr/>
        </p:nvSpPr>
        <p:spPr>
          <a:xfrm>
            <a:off x="9682163" y="5048250"/>
            <a:ext cx="28575" cy="609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9920288" y="5219700"/>
            <a:ext cx="8130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618768" y="5248275"/>
            <a:ext cx="15531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tier-critical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682163" y="5772150"/>
            <a:ext cx="7558088" cy="609600"/>
          </a:xfrm>
          <a:prstGeom prst="roundRect">
            <a:avLst>
              <a:gd name="adj" fmla="val 6250"/>
            </a:avLst>
          </a:prstGeom>
          <a:solidFill>
            <a:srgbClr val="272727"/>
          </a:solidFill>
          <a:ln/>
        </p:spPr>
      </p:sp>
      <p:sp>
        <p:nvSpPr>
          <p:cNvPr id="27" name="Shape 25"/>
          <p:cNvSpPr/>
          <p:nvPr/>
        </p:nvSpPr>
        <p:spPr>
          <a:xfrm>
            <a:off x="9682163" y="5772150"/>
            <a:ext cx="28575" cy="609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9920288" y="5943600"/>
            <a:ext cx="889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10123" y="5972175"/>
            <a:ext cx="16726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tier-regulated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682163" y="6496050"/>
            <a:ext cx="7558088" cy="609600"/>
          </a:xfrm>
          <a:prstGeom prst="roundRect">
            <a:avLst>
              <a:gd name="adj" fmla="val 6250"/>
            </a:avLst>
          </a:prstGeom>
          <a:solidFill>
            <a:srgbClr val="272727"/>
          </a:solidFill>
          <a:ln/>
        </p:spPr>
      </p:sp>
      <p:sp>
        <p:nvSpPr>
          <p:cNvPr id="31" name="Shape 29"/>
          <p:cNvSpPr/>
          <p:nvPr/>
        </p:nvSpPr>
        <p:spPr>
          <a:xfrm>
            <a:off x="9682163" y="6496050"/>
            <a:ext cx="28575" cy="609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9920288" y="6667500"/>
            <a:ext cx="6860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510123" y="6696075"/>
            <a:ext cx="16726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tier-regulated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9682163" y="7219950"/>
            <a:ext cx="7558088" cy="609600"/>
          </a:xfrm>
          <a:prstGeom prst="roundRect">
            <a:avLst>
              <a:gd name="adj" fmla="val 6250"/>
            </a:avLst>
          </a:prstGeom>
          <a:solidFill>
            <a:srgbClr val="272727"/>
          </a:solidFill>
          <a:ln/>
        </p:spPr>
      </p:sp>
      <p:sp>
        <p:nvSpPr>
          <p:cNvPr id="35" name="Text 33"/>
          <p:cNvSpPr/>
          <p:nvPr/>
        </p:nvSpPr>
        <p:spPr>
          <a:xfrm>
            <a:off x="9891713" y="7391400"/>
            <a:ext cx="889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618768" y="7419975"/>
            <a:ext cx="15531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tier-standard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852738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STRATEGIC ARC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3214688"/>
            <a:ext cx="1667827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tooling today. Operating environment tomorrow.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3071813" y="5329238"/>
            <a:ext cx="12144375" cy="9525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3071813" y="5329238"/>
            <a:ext cx="4048125" cy="9525"/>
          </a:xfrm>
          <a:prstGeom prst="rect">
            <a:avLst/>
          </a:prstGeom>
          <a:solidFill>
            <a:srgbClr val="8DB2F5"/>
          </a:solidFill>
          <a:ln/>
        </p:spPr>
      </p:sp>
      <p:sp>
        <p:nvSpPr>
          <p:cNvPr id="6" name="Shape 4"/>
          <p:cNvSpPr/>
          <p:nvPr/>
        </p:nvSpPr>
        <p:spPr>
          <a:xfrm>
            <a:off x="2995613" y="4967288"/>
            <a:ext cx="152400" cy="152400"/>
          </a:xfrm>
          <a:prstGeom prst="ellipse">
            <a:avLst/>
          </a:prstGeom>
          <a:solidFill>
            <a:srgbClr val="8DB2F5"/>
          </a:solidFill>
          <a:ln w="19050">
            <a:solidFill>
              <a:srgbClr val="8DB2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7326" y="5272088"/>
            <a:ext cx="828824" cy="295275"/>
          </a:xfrm>
          <a:prstGeom prst="roundRect">
            <a:avLst>
              <a:gd name="adj" fmla="val 9677"/>
            </a:avLst>
          </a:prstGeom>
          <a:solidFill>
            <a:srgbClr val="8DB2F5"/>
          </a:solidFill>
          <a:ln/>
        </p:spPr>
      </p:sp>
      <p:sp>
        <p:nvSpPr>
          <p:cNvPr id="8" name="Text 6"/>
          <p:cNvSpPr/>
          <p:nvPr/>
        </p:nvSpPr>
        <p:spPr>
          <a:xfrm>
            <a:off x="2828776" y="5329238"/>
            <a:ext cx="56212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F0F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2478137" y="5719763"/>
            <a:ext cx="1263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DB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698308" y="6243638"/>
            <a:ext cx="274701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tooling. Detect cross-system contradictions passively.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043738" y="4967288"/>
            <a:ext cx="152400" cy="152400"/>
          </a:xfrm>
          <a:prstGeom prst="ellipse">
            <a:avLst/>
          </a:prstGeom>
          <a:solidFill>
            <a:srgbClr val="0F0F0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59922" y="5729288"/>
            <a:ext cx="7962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746433" y="6253163"/>
            <a:ext cx="274701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0A0A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integration. Pre-deployment coherence checks before release.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091863" y="4967288"/>
            <a:ext cx="152400" cy="152400"/>
          </a:xfrm>
          <a:prstGeom prst="ellipse">
            <a:avLst/>
          </a:prstGeom>
          <a:solidFill>
            <a:srgbClr val="0F0F0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4279" y="5729288"/>
            <a:ext cx="10837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94558" y="6253163"/>
            <a:ext cx="274701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0A0A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Request-path ground truth. Load-bearing. Agents depend on it to function.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139988" y="4967288"/>
            <a:ext cx="152400" cy="152400"/>
          </a:xfrm>
          <a:prstGeom prst="ellipse">
            <a:avLst/>
          </a:prstGeom>
          <a:solidFill>
            <a:srgbClr val="0F0F0F"/>
          </a:solidFill>
          <a:ln w="19050">
            <a:solidFill>
              <a:srgbClr val="383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82230" y="5729288"/>
            <a:ext cx="5441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842683" y="6253163"/>
            <a:ext cx="274701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0A0A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organizational knowledge operating environment. The canonical claim store as platform.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971800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DEFENSIBILITY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3543300"/>
            <a:ext cx="157162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components are replicable in months.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47750" y="4286250"/>
            <a:ext cx="1471612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versioned organizational knowledge asset built from real production traffic is not.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6153150"/>
            <a:ext cx="609600" cy="19050"/>
          </a:xfrm>
          <a:prstGeom prst="rect">
            <a:avLst/>
          </a:prstGeom>
          <a:solidFill>
            <a:srgbClr val="8DB2F5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6677025"/>
            <a:ext cx="38100" cy="266700"/>
          </a:xfrm>
          <a:prstGeom prst="roundRect">
            <a:avLst>
              <a:gd name="adj" fmla="val 50000"/>
            </a:avLst>
          </a:prstGeom>
          <a:solidFill>
            <a:srgbClr val="8DB2F5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6629400"/>
            <a:ext cx="79074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longer Orqestra runs,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valuable it gets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claim ingested deepens the org's knowledge graph.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72600" y="6677025"/>
            <a:ext cx="38100" cy="266700"/>
          </a:xfrm>
          <a:prstGeom prst="roundRect">
            <a:avLst>
              <a:gd name="adj" fmla="val 50000"/>
            </a:avLst>
          </a:prstGeom>
          <a:solidFill>
            <a:srgbClr val="8DB2F5"/>
          </a:solidFill>
          <a:ln/>
        </p:spPr>
      </p:sp>
      <p:sp>
        <p:nvSpPr>
          <p:cNvPr id="9" name="Text 7"/>
          <p:cNvSpPr/>
          <p:nvPr/>
        </p:nvSpPr>
        <p:spPr>
          <a:xfrm>
            <a:off x="9563100" y="6629400"/>
            <a:ext cx="790746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longer it runs,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harder it gets to switch off </a:t>
            </a:r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Canon becomes load-bearing infrastructure by design.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66975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DB2F5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47750" y="2867025"/>
            <a:ext cx="16678275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50" b="1" spc="-150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4-week design-partner engagement.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1047750" y="4657725"/>
            <a:ext cx="5245150" cy="2209800"/>
          </a:xfrm>
          <a:prstGeom prst="roundRect">
            <a:avLst>
              <a:gd name="adj" fmla="val 1724"/>
            </a:avLst>
          </a:prstGeom>
          <a:solidFill>
            <a:srgbClr val="0F0F0F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4943475"/>
            <a:ext cx="50991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8DB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DO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352550" y="5305425"/>
            <a:ext cx="266700" cy="9525"/>
          </a:xfrm>
          <a:prstGeom prst="rect">
            <a:avLst/>
          </a:prstGeom>
          <a:solidFill>
            <a:srgbClr val="8DB2F5">
              <a:alpha val="3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5467350"/>
            <a:ext cx="477461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one NeuralCraft engagement with Orqestra. Full monitoring + Canon access.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521500" y="4657725"/>
            <a:ext cx="5245150" cy="2209800"/>
          </a:xfrm>
          <a:prstGeom prst="roundRect">
            <a:avLst>
              <a:gd name="adj" fmla="val 1724"/>
            </a:avLst>
          </a:prstGeom>
          <a:solidFill>
            <a:srgbClr val="0F0F0F"/>
          </a:solidFill>
          <a:ln/>
        </p:spPr>
      </p:sp>
      <p:sp>
        <p:nvSpPr>
          <p:cNvPr id="9" name="Text 7"/>
          <p:cNvSpPr/>
          <p:nvPr/>
        </p:nvSpPr>
        <p:spPr>
          <a:xfrm>
            <a:off x="6826300" y="4943475"/>
            <a:ext cx="50991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DO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826300" y="5305425"/>
            <a:ext cx="266700" cy="9525"/>
          </a:xfrm>
          <a:prstGeom prst="rect">
            <a:avLst/>
          </a:prstGeom>
          <a:solidFill>
            <a:srgbClr val="A0A0A0">
              <a:alpha val="3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26300" y="5467350"/>
            <a:ext cx="47746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us what's missing for your clients to actually deploy this in production.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995249" y="4657725"/>
            <a:ext cx="5245150" cy="2209800"/>
          </a:xfrm>
          <a:prstGeom prst="roundRect">
            <a:avLst>
              <a:gd name="adj" fmla="val 1724"/>
            </a:avLst>
          </a:prstGeom>
          <a:solidFill>
            <a:srgbClr val="0F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00049" y="4943475"/>
            <a:ext cx="50991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TOGETHER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2300049" y="5305425"/>
            <a:ext cx="266700" cy="9525"/>
          </a:xfrm>
          <a:prstGeom prst="rect">
            <a:avLst/>
          </a:prstGeom>
          <a:solidFill>
            <a:srgbClr val="A0A0A0">
              <a:alpha val="3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300049" y="5467350"/>
            <a:ext cx="477461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learning. Joint case study if it works. No payment required.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7324725"/>
            <a:ext cx="16192500" cy="9525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7600950"/>
            <a:ext cx="140840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weeks.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709118" y="7600950"/>
            <a:ext cx="22886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engagement.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170736" y="7600950"/>
            <a:ext cx="5564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>
                    <a:alpha val="9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924955" y="7639050"/>
            <a:ext cx="36468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NeuralCraft × Orqestra · 2025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2026-06-28T15:56:28Z</dcterms:created>
  <dcterms:modified xsi:type="dcterms:W3CDTF">2026-06-28T15:56:28Z</dcterms:modified>
</cp:coreProperties>
</file>